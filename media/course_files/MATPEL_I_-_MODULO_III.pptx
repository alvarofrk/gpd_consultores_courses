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ileron Bold" charset="1" panose="00000800000000000000"/>
      <p:regular r:id="rId15"/>
    </p:embeddedFont>
    <p:embeddedFont>
      <p:font typeface="Barlow Bold" charset="1" panose="00000800000000000000"/>
      <p:regular r:id="rId16"/>
    </p:embeddedFont>
    <p:embeddedFont>
      <p:font typeface="Barlow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png" Type="http://schemas.openxmlformats.org/officeDocument/2006/relationships/image"/><Relationship Id="rId6" Target="../media/image11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4.png" Type="http://schemas.openxmlformats.org/officeDocument/2006/relationships/image"/><Relationship Id="rId7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63167">
            <a:off x="-1178936" y="433543"/>
            <a:ext cx="6437068" cy="5243285"/>
          </a:xfrm>
          <a:custGeom>
            <a:avLst/>
            <a:gdLst/>
            <a:ahLst/>
            <a:cxnLst/>
            <a:rect r="r" b="b" t="t" l="l"/>
            <a:pathLst>
              <a:path h="5243285" w="6437068">
                <a:moveTo>
                  <a:pt x="0" y="0"/>
                </a:moveTo>
                <a:lnTo>
                  <a:pt x="6437069" y="0"/>
                </a:lnTo>
                <a:lnTo>
                  <a:pt x="6437069" y="5243284"/>
                </a:lnTo>
                <a:lnTo>
                  <a:pt x="0" y="5243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399999">
            <a:off x="13873498" y="6070938"/>
            <a:ext cx="4973350" cy="4051020"/>
          </a:xfrm>
          <a:custGeom>
            <a:avLst/>
            <a:gdLst/>
            <a:ahLst/>
            <a:cxnLst/>
            <a:rect r="r" b="b" t="t" l="l"/>
            <a:pathLst>
              <a:path h="4051020" w="4973350">
                <a:moveTo>
                  <a:pt x="0" y="0"/>
                </a:moveTo>
                <a:lnTo>
                  <a:pt x="4973350" y="0"/>
                </a:lnTo>
                <a:lnTo>
                  <a:pt x="4973350" y="4051020"/>
                </a:lnTo>
                <a:lnTo>
                  <a:pt x="0" y="40510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34663" y="4994555"/>
            <a:ext cx="297890" cy="297890"/>
          </a:xfrm>
          <a:custGeom>
            <a:avLst/>
            <a:gdLst/>
            <a:ahLst/>
            <a:cxnLst/>
            <a:rect r="r" b="b" t="t" l="l"/>
            <a:pathLst>
              <a:path h="297890" w="297890">
                <a:moveTo>
                  <a:pt x="0" y="0"/>
                </a:moveTo>
                <a:lnTo>
                  <a:pt x="297890" y="0"/>
                </a:lnTo>
                <a:lnTo>
                  <a:pt x="297890" y="297890"/>
                </a:lnTo>
                <a:lnTo>
                  <a:pt x="0" y="2978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5741948"/>
            <a:ext cx="3495788" cy="4167387"/>
          </a:xfrm>
          <a:custGeom>
            <a:avLst/>
            <a:gdLst/>
            <a:ahLst/>
            <a:cxnLst/>
            <a:rect r="r" b="b" t="t" l="l"/>
            <a:pathLst>
              <a:path h="4167387" w="3495788">
                <a:moveTo>
                  <a:pt x="0" y="0"/>
                </a:moveTo>
                <a:lnTo>
                  <a:pt x="3495788" y="0"/>
                </a:lnTo>
                <a:lnTo>
                  <a:pt x="3495788" y="4167387"/>
                </a:lnTo>
                <a:lnTo>
                  <a:pt x="0" y="4167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905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9858408"/>
            <a:ext cx="18288000" cy="428592"/>
            <a:chOff x="0" y="0"/>
            <a:chExt cx="4816593" cy="112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112880"/>
            </a:xfrm>
            <a:custGeom>
              <a:avLst/>
              <a:gdLst/>
              <a:ahLst/>
              <a:cxnLst/>
              <a:rect r="r" b="b" t="t" l="l"/>
              <a:pathLst>
                <a:path h="1128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2880"/>
                  </a:lnTo>
                  <a:lnTo>
                    <a:pt x="0" y="112880"/>
                  </a:lnTo>
                  <a:close/>
                </a:path>
              </a:pathLst>
            </a:custGeom>
            <a:solidFill>
              <a:srgbClr val="1C417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816593" cy="160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Copyright © 2025 by GPD CONSULTORES. </a:t>
              </a: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All Rights Reserved.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022815" y="154205"/>
            <a:ext cx="3106227" cy="1021399"/>
          </a:xfrm>
          <a:custGeom>
            <a:avLst/>
            <a:gdLst/>
            <a:ahLst/>
            <a:cxnLst/>
            <a:rect r="r" b="b" t="t" l="l"/>
            <a:pathLst>
              <a:path h="1021399" w="3106227">
                <a:moveTo>
                  <a:pt x="0" y="0"/>
                </a:moveTo>
                <a:lnTo>
                  <a:pt x="3106227" y="0"/>
                </a:lnTo>
                <a:lnTo>
                  <a:pt x="3106227" y="1021399"/>
                </a:lnTo>
                <a:lnTo>
                  <a:pt x="0" y="10213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75" r="0" b="-7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41730" y="2716058"/>
            <a:ext cx="11804541" cy="215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5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MATPEL I</a:t>
            </a:r>
          </a:p>
          <a:p>
            <a:pPr algn="ctr">
              <a:lnSpc>
                <a:spcPts val="8400"/>
              </a:lnSpc>
            </a:pPr>
            <a:r>
              <a:rPr lang="en-US" sz="75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NIVEL ADVERTENCIA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13977" y="5120995"/>
            <a:ext cx="9860045" cy="203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9"/>
              </a:lnSpc>
            </a:pPr>
            <a:r>
              <a:rPr lang="en-US" sz="549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MODULO III</a:t>
            </a:r>
          </a:p>
          <a:p>
            <a:pPr algn="ctr">
              <a:lnSpc>
                <a:spcPts val="8249"/>
              </a:lnSpc>
            </a:pPr>
            <a:r>
              <a:rPr lang="en-US" b="true" sz="5499">
                <a:solidFill>
                  <a:srgbClr val="ED7D31"/>
                </a:solidFill>
                <a:latin typeface="Barlow Bold"/>
                <a:ea typeface="Barlow Bold"/>
                <a:cs typeface="Barlow Bold"/>
                <a:sym typeface="Barlow Bold"/>
              </a:rPr>
              <a:t>H</a:t>
            </a:r>
            <a:r>
              <a:rPr lang="en-US" b="true" sz="5499">
                <a:solidFill>
                  <a:srgbClr val="ED7D31"/>
                </a:solidFill>
                <a:latin typeface="Barlow Bold"/>
                <a:ea typeface="Barlow Bold"/>
                <a:cs typeface="Barlow Bold"/>
                <a:sym typeface="Barlow Bold"/>
              </a:rPr>
              <a:t>ERRAMIENTAS (GRE Y MSDS)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77661"/>
            <a:ext cx="2326503" cy="1895043"/>
          </a:xfrm>
          <a:custGeom>
            <a:avLst/>
            <a:gdLst/>
            <a:ahLst/>
            <a:cxnLst/>
            <a:rect r="r" b="b" t="t" l="l"/>
            <a:pathLst>
              <a:path h="1895043" w="2326503">
                <a:moveTo>
                  <a:pt x="0" y="0"/>
                </a:moveTo>
                <a:lnTo>
                  <a:pt x="2326503" y="0"/>
                </a:lnTo>
                <a:lnTo>
                  <a:pt x="2326503" y="1895043"/>
                </a:lnTo>
                <a:lnTo>
                  <a:pt x="0" y="1895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858408"/>
            <a:ext cx="18288000" cy="428592"/>
            <a:chOff x="0" y="0"/>
            <a:chExt cx="4816593" cy="11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12880"/>
            </a:xfrm>
            <a:custGeom>
              <a:avLst/>
              <a:gdLst/>
              <a:ahLst/>
              <a:cxnLst/>
              <a:rect r="r" b="b" t="t" l="l"/>
              <a:pathLst>
                <a:path h="1128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2880"/>
                  </a:lnTo>
                  <a:lnTo>
                    <a:pt x="0" y="112880"/>
                  </a:lnTo>
                  <a:close/>
                </a:path>
              </a:pathLst>
            </a:custGeom>
            <a:solidFill>
              <a:srgbClr val="1C417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160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Copyright © 2025 by GPD CONSULTORES. </a:t>
              </a: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All Rights Reserved.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022815" y="154205"/>
            <a:ext cx="3106227" cy="1021399"/>
          </a:xfrm>
          <a:custGeom>
            <a:avLst/>
            <a:gdLst/>
            <a:ahLst/>
            <a:cxnLst/>
            <a:rect r="r" b="b" t="t" l="l"/>
            <a:pathLst>
              <a:path h="1021399" w="3106227">
                <a:moveTo>
                  <a:pt x="0" y="0"/>
                </a:moveTo>
                <a:lnTo>
                  <a:pt x="3106227" y="0"/>
                </a:lnTo>
                <a:lnTo>
                  <a:pt x="3106227" y="1021399"/>
                </a:lnTo>
                <a:lnTo>
                  <a:pt x="0" y="1021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" r="0" b="-7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75703"/>
            <a:ext cx="6488462" cy="109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TEMARIO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26503" y="2457986"/>
            <a:ext cx="15802539" cy="421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H</a:t>
            </a:r>
            <a:r>
              <a:rPr lang="en-US" sz="39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ojas de Seguridad (MSDS): estructura y utilidad.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Guía de Respuesta a Emergencias (GRE):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Páginas blancas, amarillas, azules, naranjas y verdes.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Ejemplos de búsqueda por número ONU y por nombre.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Señalización de transporte (ONU, DOT, ADR).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Ejemplos prácticos de identificación.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77661"/>
            <a:ext cx="2326503" cy="1895043"/>
          </a:xfrm>
          <a:custGeom>
            <a:avLst/>
            <a:gdLst/>
            <a:ahLst/>
            <a:cxnLst/>
            <a:rect r="r" b="b" t="t" l="l"/>
            <a:pathLst>
              <a:path h="1895043" w="2326503">
                <a:moveTo>
                  <a:pt x="0" y="0"/>
                </a:moveTo>
                <a:lnTo>
                  <a:pt x="2326503" y="0"/>
                </a:lnTo>
                <a:lnTo>
                  <a:pt x="2326503" y="1895043"/>
                </a:lnTo>
                <a:lnTo>
                  <a:pt x="0" y="1895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858408"/>
            <a:ext cx="18288000" cy="428592"/>
            <a:chOff x="0" y="0"/>
            <a:chExt cx="4816593" cy="11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12880"/>
            </a:xfrm>
            <a:custGeom>
              <a:avLst/>
              <a:gdLst/>
              <a:ahLst/>
              <a:cxnLst/>
              <a:rect r="r" b="b" t="t" l="l"/>
              <a:pathLst>
                <a:path h="1128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2880"/>
                  </a:lnTo>
                  <a:lnTo>
                    <a:pt x="0" y="112880"/>
                  </a:lnTo>
                  <a:close/>
                </a:path>
              </a:pathLst>
            </a:custGeom>
            <a:solidFill>
              <a:srgbClr val="1C417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160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Copyright © 2025 by GPD CONSULTORES. </a:t>
              </a: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All Rights Reserved.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022815" y="154205"/>
            <a:ext cx="3106227" cy="1021399"/>
          </a:xfrm>
          <a:custGeom>
            <a:avLst/>
            <a:gdLst/>
            <a:ahLst/>
            <a:cxnLst/>
            <a:rect r="r" b="b" t="t" l="l"/>
            <a:pathLst>
              <a:path h="1021399" w="3106227">
                <a:moveTo>
                  <a:pt x="0" y="0"/>
                </a:moveTo>
                <a:lnTo>
                  <a:pt x="3106227" y="0"/>
                </a:lnTo>
                <a:lnTo>
                  <a:pt x="3106227" y="1021399"/>
                </a:lnTo>
                <a:lnTo>
                  <a:pt x="0" y="1021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" r="0" b="-7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01163" y="3094263"/>
            <a:ext cx="7881120" cy="6567600"/>
          </a:xfrm>
          <a:custGeom>
            <a:avLst/>
            <a:gdLst/>
            <a:ahLst/>
            <a:cxnLst/>
            <a:rect r="r" b="b" t="t" l="l"/>
            <a:pathLst>
              <a:path h="6567600" w="7881120">
                <a:moveTo>
                  <a:pt x="0" y="0"/>
                </a:moveTo>
                <a:lnTo>
                  <a:pt x="7881120" y="0"/>
                </a:lnTo>
                <a:lnTo>
                  <a:pt x="7881120" y="6567600"/>
                </a:lnTo>
                <a:lnTo>
                  <a:pt x="0" y="6567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662522" y="2656754"/>
            <a:ext cx="9958132" cy="700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Identif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icación del producto y del proveedor.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Peligros.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Composición/información sobre ingredientes.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Primeros auxilios.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Medidas contra incendios.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Medidas en caso de d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errame.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Manipulación y almacenamiento.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Co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ntro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les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 de exposición/EPP.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Propi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edades físicas y químicas.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E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stabilidad y reactividad.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Información toxicológica.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Información 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ecológica.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Eliminación.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Transporte.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Normativa aplicable.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Otra información.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32811"/>
            <a:ext cx="13382063" cy="218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Es</a:t>
            </a:r>
            <a:r>
              <a:rPr lang="en-US" sz="75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tructura de la MSDS (16 secciones)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77661"/>
            <a:ext cx="2326503" cy="1895043"/>
          </a:xfrm>
          <a:custGeom>
            <a:avLst/>
            <a:gdLst/>
            <a:ahLst/>
            <a:cxnLst/>
            <a:rect r="r" b="b" t="t" l="l"/>
            <a:pathLst>
              <a:path h="1895043" w="2326503">
                <a:moveTo>
                  <a:pt x="0" y="0"/>
                </a:moveTo>
                <a:lnTo>
                  <a:pt x="2326503" y="0"/>
                </a:lnTo>
                <a:lnTo>
                  <a:pt x="2326503" y="1895043"/>
                </a:lnTo>
                <a:lnTo>
                  <a:pt x="0" y="1895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858408"/>
            <a:ext cx="18288000" cy="428592"/>
            <a:chOff x="0" y="0"/>
            <a:chExt cx="4816593" cy="11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12880"/>
            </a:xfrm>
            <a:custGeom>
              <a:avLst/>
              <a:gdLst/>
              <a:ahLst/>
              <a:cxnLst/>
              <a:rect r="r" b="b" t="t" l="l"/>
              <a:pathLst>
                <a:path h="1128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2880"/>
                  </a:lnTo>
                  <a:lnTo>
                    <a:pt x="0" y="112880"/>
                  </a:lnTo>
                  <a:close/>
                </a:path>
              </a:pathLst>
            </a:custGeom>
            <a:solidFill>
              <a:srgbClr val="1C417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160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Copyright © 2025 by GPD CONSULTORES. </a:t>
              </a: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All Rights Reserved.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022815" y="154205"/>
            <a:ext cx="3106227" cy="1021399"/>
          </a:xfrm>
          <a:custGeom>
            <a:avLst/>
            <a:gdLst/>
            <a:ahLst/>
            <a:cxnLst/>
            <a:rect r="r" b="b" t="t" l="l"/>
            <a:pathLst>
              <a:path h="1021399" w="3106227">
                <a:moveTo>
                  <a:pt x="0" y="0"/>
                </a:moveTo>
                <a:lnTo>
                  <a:pt x="3106227" y="0"/>
                </a:lnTo>
                <a:lnTo>
                  <a:pt x="3106227" y="1021399"/>
                </a:lnTo>
                <a:lnTo>
                  <a:pt x="0" y="1021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" r="0" b="-7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71239" y="3256796"/>
            <a:ext cx="4942152" cy="6251987"/>
          </a:xfrm>
          <a:custGeom>
            <a:avLst/>
            <a:gdLst/>
            <a:ahLst/>
            <a:cxnLst/>
            <a:rect r="r" b="b" t="t" l="l"/>
            <a:pathLst>
              <a:path h="6251987" w="4942152">
                <a:moveTo>
                  <a:pt x="0" y="0"/>
                </a:moveTo>
                <a:lnTo>
                  <a:pt x="4942152" y="0"/>
                </a:lnTo>
                <a:lnTo>
                  <a:pt x="4942152" y="6251988"/>
                </a:lnTo>
                <a:lnTo>
                  <a:pt x="0" y="6251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22058" y="4357442"/>
            <a:ext cx="10523250" cy="320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Documento</a:t>
            </a: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 internacional p</a:t>
            </a: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ara primeros respondedores.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Permite: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</a:t>
            </a: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dentificar materiales peligrosos.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Definir ri</a:t>
            </a: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esgos de salud, in</a:t>
            </a: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cendio y reactividad.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Estab</a:t>
            </a: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lecer distanci</a:t>
            </a: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as de aislamiento y evacuación.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Se organiza en 5 secciones principales (páginas de colores)</a:t>
            </a:r>
            <a:r>
              <a:rPr lang="en-US" sz="3000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-10081"/>
            <a:ext cx="13382063" cy="326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Uso práctico de la Guí</a:t>
            </a:r>
            <a:r>
              <a:rPr lang="en-US" sz="75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 de Respuesta a Emergencias (GRE)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77661"/>
            <a:ext cx="2326503" cy="1895043"/>
          </a:xfrm>
          <a:custGeom>
            <a:avLst/>
            <a:gdLst/>
            <a:ahLst/>
            <a:cxnLst/>
            <a:rect r="r" b="b" t="t" l="l"/>
            <a:pathLst>
              <a:path h="1895043" w="2326503">
                <a:moveTo>
                  <a:pt x="0" y="0"/>
                </a:moveTo>
                <a:lnTo>
                  <a:pt x="2326503" y="0"/>
                </a:lnTo>
                <a:lnTo>
                  <a:pt x="2326503" y="1895043"/>
                </a:lnTo>
                <a:lnTo>
                  <a:pt x="0" y="1895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858408"/>
            <a:ext cx="18288000" cy="428592"/>
            <a:chOff x="0" y="0"/>
            <a:chExt cx="4816593" cy="11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12880"/>
            </a:xfrm>
            <a:custGeom>
              <a:avLst/>
              <a:gdLst/>
              <a:ahLst/>
              <a:cxnLst/>
              <a:rect r="r" b="b" t="t" l="l"/>
              <a:pathLst>
                <a:path h="1128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2880"/>
                  </a:lnTo>
                  <a:lnTo>
                    <a:pt x="0" y="112880"/>
                  </a:lnTo>
                  <a:close/>
                </a:path>
              </a:pathLst>
            </a:custGeom>
            <a:solidFill>
              <a:srgbClr val="1C417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160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Copyright © 2025 by GPD CONSULTORES. </a:t>
              </a: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All Rights Reserved.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022815" y="154205"/>
            <a:ext cx="3106227" cy="1021399"/>
          </a:xfrm>
          <a:custGeom>
            <a:avLst/>
            <a:gdLst/>
            <a:ahLst/>
            <a:cxnLst/>
            <a:rect r="r" b="b" t="t" l="l"/>
            <a:pathLst>
              <a:path h="1021399" w="3106227">
                <a:moveTo>
                  <a:pt x="0" y="0"/>
                </a:moveTo>
                <a:lnTo>
                  <a:pt x="3106227" y="0"/>
                </a:lnTo>
                <a:lnTo>
                  <a:pt x="3106227" y="1021399"/>
                </a:lnTo>
                <a:lnTo>
                  <a:pt x="0" y="1021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" r="0" b="-75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20878" y="3986549"/>
            <a:ext cx="674650" cy="6746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B72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03200" y="-4762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107146" y="5127007"/>
            <a:ext cx="3630649" cy="3061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Listado de material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es por número UN/NA.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Indica a qué guía (página naranja) se debe acudir.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Identificación rápida mediante rotulado de transporte.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9847" y="5086350"/>
            <a:ext cx="3630649" cy="349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Listado de ma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teriales por nombre alfabético.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Incluye número UN y referencia a guía de emergencia.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Útil cuando se conoce el nombre, pero no el número.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806675" y="3986549"/>
            <a:ext cx="674650" cy="67465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B721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03200" y="-4762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71383" y="3986549"/>
            <a:ext cx="674650" cy="67465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B721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203200" y="-4762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3451" y="4943112"/>
            <a:ext cx="3897079" cy="2159406"/>
            <a:chOff x="0" y="0"/>
            <a:chExt cx="1026391" cy="5687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6391" cy="568732"/>
            </a:xfrm>
            <a:custGeom>
              <a:avLst/>
              <a:gdLst/>
              <a:ahLst/>
              <a:cxnLst/>
              <a:rect r="r" b="b" t="t" l="l"/>
              <a:pathLst>
                <a:path h="568732" w="1026391">
                  <a:moveTo>
                    <a:pt x="0" y="0"/>
                  </a:moveTo>
                  <a:lnTo>
                    <a:pt x="1026391" y="0"/>
                  </a:lnTo>
                  <a:lnTo>
                    <a:pt x="1026391" y="568732"/>
                  </a:lnTo>
                  <a:lnTo>
                    <a:pt x="0" y="5687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4AAD"/>
              </a:solidFill>
              <a:prstDash val="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26391" cy="616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644273" y="2919617"/>
            <a:ext cx="1995435" cy="106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PÁGI</a:t>
            </a:r>
            <a:r>
              <a:rPr lang="en-US" b="true" sz="3000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NAS BLANCAS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532811"/>
            <a:ext cx="13382063" cy="218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GUIA DE RESPUESTA A EMERGENCIAS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46282" y="2919617"/>
            <a:ext cx="2129744" cy="106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PÁGI</a:t>
            </a:r>
            <a:r>
              <a:rPr lang="en-US" b="true" sz="3000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NAS AMARILLAS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32593" y="2919617"/>
            <a:ext cx="1552232" cy="106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PÁGINAS AZULES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38780" y="5127007"/>
            <a:ext cx="3606422" cy="174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ntroducción a la GRE.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Instrucciones de uso paso a paso.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Glosario y definiciones.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082433" y="4946949"/>
            <a:ext cx="3655363" cy="3438392"/>
            <a:chOff x="0" y="0"/>
            <a:chExt cx="962729" cy="90558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2729" cy="905585"/>
            </a:xfrm>
            <a:custGeom>
              <a:avLst/>
              <a:gdLst/>
              <a:ahLst/>
              <a:cxnLst/>
              <a:rect r="r" b="b" t="t" l="l"/>
              <a:pathLst>
                <a:path h="905585" w="962729">
                  <a:moveTo>
                    <a:pt x="0" y="0"/>
                  </a:moveTo>
                  <a:lnTo>
                    <a:pt x="962729" y="0"/>
                  </a:lnTo>
                  <a:lnTo>
                    <a:pt x="962729" y="905585"/>
                  </a:lnTo>
                  <a:lnTo>
                    <a:pt x="0" y="9055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4AAD"/>
              </a:solidFill>
              <a:prstDash val="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62729" cy="95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810445" y="4943112"/>
            <a:ext cx="4109454" cy="3812887"/>
            <a:chOff x="0" y="0"/>
            <a:chExt cx="1082325" cy="100421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2325" cy="1004217"/>
            </a:xfrm>
            <a:custGeom>
              <a:avLst/>
              <a:gdLst/>
              <a:ahLst/>
              <a:cxnLst/>
              <a:rect r="r" b="b" t="t" l="l"/>
              <a:pathLst>
                <a:path h="1004217" w="1082325">
                  <a:moveTo>
                    <a:pt x="0" y="0"/>
                  </a:moveTo>
                  <a:lnTo>
                    <a:pt x="1082325" y="0"/>
                  </a:lnTo>
                  <a:lnTo>
                    <a:pt x="1082325" y="1004217"/>
                  </a:lnTo>
                  <a:lnTo>
                    <a:pt x="0" y="1004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4AAD"/>
              </a:solidFill>
              <a:prstDash val="dash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82325" cy="105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77661"/>
            <a:ext cx="2326503" cy="1895043"/>
          </a:xfrm>
          <a:custGeom>
            <a:avLst/>
            <a:gdLst/>
            <a:ahLst/>
            <a:cxnLst/>
            <a:rect r="r" b="b" t="t" l="l"/>
            <a:pathLst>
              <a:path h="1895043" w="2326503">
                <a:moveTo>
                  <a:pt x="0" y="0"/>
                </a:moveTo>
                <a:lnTo>
                  <a:pt x="2326503" y="0"/>
                </a:lnTo>
                <a:lnTo>
                  <a:pt x="2326503" y="1895043"/>
                </a:lnTo>
                <a:lnTo>
                  <a:pt x="0" y="1895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858408"/>
            <a:ext cx="18288000" cy="428592"/>
            <a:chOff x="0" y="0"/>
            <a:chExt cx="4816593" cy="11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12880"/>
            </a:xfrm>
            <a:custGeom>
              <a:avLst/>
              <a:gdLst/>
              <a:ahLst/>
              <a:cxnLst/>
              <a:rect r="r" b="b" t="t" l="l"/>
              <a:pathLst>
                <a:path h="1128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2880"/>
                  </a:lnTo>
                  <a:lnTo>
                    <a:pt x="0" y="112880"/>
                  </a:lnTo>
                  <a:close/>
                </a:path>
              </a:pathLst>
            </a:custGeom>
            <a:solidFill>
              <a:srgbClr val="1C417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160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Copyright © 2025 by GPD CONSULTORES. </a:t>
              </a: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All Rights Reserved.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022815" y="154205"/>
            <a:ext cx="3106227" cy="1021399"/>
          </a:xfrm>
          <a:custGeom>
            <a:avLst/>
            <a:gdLst/>
            <a:ahLst/>
            <a:cxnLst/>
            <a:rect r="r" b="b" t="t" l="l"/>
            <a:pathLst>
              <a:path h="1021399" w="3106227">
                <a:moveTo>
                  <a:pt x="0" y="0"/>
                </a:moveTo>
                <a:lnTo>
                  <a:pt x="3106227" y="0"/>
                </a:lnTo>
                <a:lnTo>
                  <a:pt x="3106227" y="1021399"/>
                </a:lnTo>
                <a:lnTo>
                  <a:pt x="0" y="1021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" r="0" b="-75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251027" y="6708481"/>
            <a:ext cx="7251870" cy="2416701"/>
            <a:chOff x="0" y="0"/>
            <a:chExt cx="1909958" cy="636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9958" cy="636497"/>
            </a:xfrm>
            <a:custGeom>
              <a:avLst/>
              <a:gdLst/>
              <a:ahLst/>
              <a:cxnLst/>
              <a:rect r="r" b="b" t="t" l="l"/>
              <a:pathLst>
                <a:path h="636497" w="1909958">
                  <a:moveTo>
                    <a:pt x="0" y="0"/>
                  </a:moveTo>
                  <a:lnTo>
                    <a:pt x="1909958" y="0"/>
                  </a:lnTo>
                  <a:lnTo>
                    <a:pt x="1909958" y="636497"/>
                  </a:lnTo>
                  <a:lnTo>
                    <a:pt x="0" y="6364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4AAD"/>
              </a:solidFill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09958" cy="684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39308" y="6786688"/>
            <a:ext cx="6854075" cy="218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Tablas de materiales tóxicos por inhalació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n (TIH).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Proporcionan distancias de aislamiento y evacuación.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Datos para derrames en pequeñas y grandes cantidades</a:t>
            </a:r>
          </a:p>
        </p:txBody>
      </p:sp>
      <p:grpSp>
        <p:nvGrpSpPr>
          <p:cNvPr name="Group 12" id="12"/>
          <p:cNvGrpSpPr/>
          <p:nvPr/>
        </p:nvGrpSpPr>
        <p:grpSpPr>
          <a:xfrm rot="5400000">
            <a:off x="9657555" y="7117784"/>
            <a:ext cx="1264119" cy="126411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B721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03200" y="-4762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81754" y="3790408"/>
            <a:ext cx="7747283" cy="2488575"/>
            <a:chOff x="0" y="0"/>
            <a:chExt cx="2040437" cy="6554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0437" cy="655427"/>
            </a:xfrm>
            <a:custGeom>
              <a:avLst/>
              <a:gdLst/>
              <a:ahLst/>
              <a:cxnLst/>
              <a:rect r="r" b="b" t="t" l="l"/>
              <a:pathLst>
                <a:path h="655427" w="2040437">
                  <a:moveTo>
                    <a:pt x="0" y="0"/>
                  </a:moveTo>
                  <a:lnTo>
                    <a:pt x="2040437" y="0"/>
                  </a:lnTo>
                  <a:lnTo>
                    <a:pt x="2040437" y="655427"/>
                  </a:lnTo>
                  <a:lnTo>
                    <a:pt x="0" y="6554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4AAD"/>
              </a:solidFill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040437" cy="703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491834" y="3714208"/>
            <a:ext cx="1995435" cy="106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b="true" sz="3000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PÁGI</a:t>
            </a:r>
            <a:r>
              <a:rPr lang="en-US" b="true" sz="3000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NAS NARANJAS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32811"/>
            <a:ext cx="13382063" cy="218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GUIA DE RESPUESTA A EMERGENCIAS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22841" y="6933905"/>
            <a:ext cx="1995435" cy="106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b="true" sz="3000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PÁGI</a:t>
            </a:r>
            <a:r>
              <a:rPr lang="en-US" b="true" sz="3000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NAS VERDES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81754" y="3929399"/>
            <a:ext cx="7426779" cy="218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Guías de r</a:t>
            </a: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espuesta a emergencias.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Cada guía incluye: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Peligros potenciales (salud, incendio, reactividad).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Medidas de protección.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Acciones de respuesta inicial.</a:t>
            </a:r>
          </a:p>
        </p:txBody>
      </p:sp>
      <p:grpSp>
        <p:nvGrpSpPr>
          <p:cNvPr name="Group 22" id="22"/>
          <p:cNvGrpSpPr/>
          <p:nvPr/>
        </p:nvGrpSpPr>
        <p:grpSpPr>
          <a:xfrm rot="-5400000">
            <a:off x="7302592" y="3653715"/>
            <a:ext cx="1264119" cy="126411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B721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203200" y="-47625"/>
              <a:ext cx="4064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77661"/>
            <a:ext cx="2326503" cy="1895043"/>
          </a:xfrm>
          <a:custGeom>
            <a:avLst/>
            <a:gdLst/>
            <a:ahLst/>
            <a:cxnLst/>
            <a:rect r="r" b="b" t="t" l="l"/>
            <a:pathLst>
              <a:path h="1895043" w="2326503">
                <a:moveTo>
                  <a:pt x="0" y="0"/>
                </a:moveTo>
                <a:lnTo>
                  <a:pt x="2326503" y="0"/>
                </a:lnTo>
                <a:lnTo>
                  <a:pt x="2326503" y="1895043"/>
                </a:lnTo>
                <a:lnTo>
                  <a:pt x="0" y="1895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858408"/>
            <a:ext cx="18288000" cy="428592"/>
            <a:chOff x="0" y="0"/>
            <a:chExt cx="4816593" cy="11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12880"/>
            </a:xfrm>
            <a:custGeom>
              <a:avLst/>
              <a:gdLst/>
              <a:ahLst/>
              <a:cxnLst/>
              <a:rect r="r" b="b" t="t" l="l"/>
              <a:pathLst>
                <a:path h="1128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2880"/>
                  </a:lnTo>
                  <a:lnTo>
                    <a:pt x="0" y="112880"/>
                  </a:lnTo>
                  <a:close/>
                </a:path>
              </a:pathLst>
            </a:custGeom>
            <a:solidFill>
              <a:srgbClr val="1C417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160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Copyright © 2025 by GPD CONSULTORES. </a:t>
              </a: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All Rights Reserved.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022815" y="154205"/>
            <a:ext cx="3106227" cy="1021399"/>
          </a:xfrm>
          <a:custGeom>
            <a:avLst/>
            <a:gdLst/>
            <a:ahLst/>
            <a:cxnLst/>
            <a:rect r="r" b="b" t="t" l="l"/>
            <a:pathLst>
              <a:path h="1021399" w="3106227">
                <a:moveTo>
                  <a:pt x="0" y="0"/>
                </a:moveTo>
                <a:lnTo>
                  <a:pt x="3106227" y="0"/>
                </a:lnTo>
                <a:lnTo>
                  <a:pt x="3106227" y="1021399"/>
                </a:lnTo>
                <a:lnTo>
                  <a:pt x="0" y="1021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" r="0" b="-75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05186" y="2981780"/>
          <a:ext cx="17500122" cy="6370627"/>
        </p:xfrm>
        <a:graphic>
          <a:graphicData uri="http://schemas.openxmlformats.org/drawingml/2006/table">
            <a:tbl>
              <a:tblPr/>
              <a:tblGrid>
                <a:gridCol w="3500024"/>
                <a:gridCol w="3500024"/>
                <a:gridCol w="3500024"/>
                <a:gridCol w="3500024"/>
                <a:gridCol w="3500024"/>
              </a:tblGrid>
              <a:tr h="12434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SISTEMA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PANEL NARANJA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ETIQUETAS DE RIESGO (ROMBOS/PLACARDS)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TEXTO EN RÓTULO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APLICACIÓN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19043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ONU (NACIONES UNIDAS)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✔️ Sí. Panel naranja dividido: 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• Arriba → Número de riesgo (Kemler). </a:t>
                      </a: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• Abajo → Número ONU (UN XXXX).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✔️ Sí. Clases 1 a 9 con colores y pictogramas (ej. explosivo, inflamable, tóxico, corrosivo). Tamaño: 10x10 cm (envases) / 25x25 cm (vehículos).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❌ No obligatorio.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Base internacional (referencia mundial). Adoptado por Perú y la mayoría de países.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6114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DOT (EE. UU.)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❌ No obligatorio en todos los casos (se usa más en cisternas a granel).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✔️ Sí. "Placards" en forma de rombo de 10 ¾ in (27,3 cm). Incluyen: símbolo + clase/división + número ONU (opcional).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✔️ Sí, texto obligatorio en inglés (ej. Flammable Gas, Corrosive).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Transporte terrestre dentro de EE. UU.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6114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ADR (EUROPA)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✔️ Sí. Igual a ONU: </a:t>
                      </a:r>
                      <a:endParaRPr lang="en-US" sz="1100"/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• Arriba → Número de riesgo. </a:t>
                      </a: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• Abajo → Número ONU. </a:t>
                      </a: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Tamaño: 40x30 cm.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✔️ Sí. Igual a ONU (clases 1–9). Mínimo 25x25 cm en vehículos y cisternas.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❌ No obligatorio.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Europa (Acuerdo ADR).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028700" y="532811"/>
            <a:ext cx="13382063" cy="218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Señalización de transporte (ONU, DOT, ADR).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77661"/>
            <a:ext cx="2326503" cy="1895043"/>
          </a:xfrm>
          <a:custGeom>
            <a:avLst/>
            <a:gdLst/>
            <a:ahLst/>
            <a:cxnLst/>
            <a:rect r="r" b="b" t="t" l="l"/>
            <a:pathLst>
              <a:path h="1895043" w="2326503">
                <a:moveTo>
                  <a:pt x="0" y="0"/>
                </a:moveTo>
                <a:lnTo>
                  <a:pt x="2326503" y="0"/>
                </a:lnTo>
                <a:lnTo>
                  <a:pt x="2326503" y="1895043"/>
                </a:lnTo>
                <a:lnTo>
                  <a:pt x="0" y="1895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858408"/>
            <a:ext cx="18288000" cy="428592"/>
            <a:chOff x="0" y="0"/>
            <a:chExt cx="4816593" cy="11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12880"/>
            </a:xfrm>
            <a:custGeom>
              <a:avLst/>
              <a:gdLst/>
              <a:ahLst/>
              <a:cxnLst/>
              <a:rect r="r" b="b" t="t" l="l"/>
              <a:pathLst>
                <a:path h="1128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2880"/>
                  </a:lnTo>
                  <a:lnTo>
                    <a:pt x="0" y="112880"/>
                  </a:lnTo>
                  <a:close/>
                </a:path>
              </a:pathLst>
            </a:custGeom>
            <a:solidFill>
              <a:srgbClr val="1C417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160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Copyright © 2025 by GPD CONSULTORES. </a:t>
              </a: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All Rights Reserved.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022815" y="154205"/>
            <a:ext cx="3106227" cy="1021399"/>
          </a:xfrm>
          <a:custGeom>
            <a:avLst/>
            <a:gdLst/>
            <a:ahLst/>
            <a:cxnLst/>
            <a:rect r="r" b="b" t="t" l="l"/>
            <a:pathLst>
              <a:path h="1021399" w="3106227">
                <a:moveTo>
                  <a:pt x="0" y="0"/>
                </a:moveTo>
                <a:lnTo>
                  <a:pt x="3106227" y="0"/>
                </a:lnTo>
                <a:lnTo>
                  <a:pt x="3106227" y="1021399"/>
                </a:lnTo>
                <a:lnTo>
                  <a:pt x="0" y="1021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" r="0" b="-7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32811"/>
            <a:ext cx="13382063" cy="218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Ejemplos prácticos de identificación.</a:t>
            </a:r>
          </a:p>
        </p:txBody>
      </p:sp>
      <p:graphicFrame>
        <p:nvGraphicFramePr>
          <p:cNvPr name="Object 9" id="9"/>
          <p:cNvGraphicFramePr/>
          <p:nvPr/>
        </p:nvGraphicFramePr>
        <p:xfrm>
          <a:off x="1163252" y="2955996"/>
          <a:ext cx="6286500" cy="2514600"/>
        </p:xfrm>
        <a:graphic>
          <a:graphicData uri="http://schemas.openxmlformats.org/presentationml/2006/ole">
            <p:oleObj imgW="7543800" imgH="3771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5" t="-21206" r="0" b="-1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63167">
            <a:off x="-1178936" y="433543"/>
            <a:ext cx="6437068" cy="5243285"/>
          </a:xfrm>
          <a:custGeom>
            <a:avLst/>
            <a:gdLst/>
            <a:ahLst/>
            <a:cxnLst/>
            <a:rect r="r" b="b" t="t" l="l"/>
            <a:pathLst>
              <a:path h="5243285" w="6437068">
                <a:moveTo>
                  <a:pt x="0" y="0"/>
                </a:moveTo>
                <a:lnTo>
                  <a:pt x="6437069" y="0"/>
                </a:lnTo>
                <a:lnTo>
                  <a:pt x="6437069" y="5243284"/>
                </a:lnTo>
                <a:lnTo>
                  <a:pt x="0" y="5243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399999">
            <a:off x="12763625" y="4690283"/>
            <a:ext cx="6437068" cy="5243285"/>
          </a:xfrm>
          <a:custGeom>
            <a:avLst/>
            <a:gdLst/>
            <a:ahLst/>
            <a:cxnLst/>
            <a:rect r="r" b="b" t="t" l="l"/>
            <a:pathLst>
              <a:path h="5243285" w="6437068">
                <a:moveTo>
                  <a:pt x="0" y="0"/>
                </a:moveTo>
                <a:lnTo>
                  <a:pt x="6437069" y="0"/>
                </a:lnTo>
                <a:lnTo>
                  <a:pt x="6437069" y="5243284"/>
                </a:lnTo>
                <a:lnTo>
                  <a:pt x="0" y="5243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22815" y="154205"/>
            <a:ext cx="3106227" cy="1021399"/>
          </a:xfrm>
          <a:custGeom>
            <a:avLst/>
            <a:gdLst/>
            <a:ahLst/>
            <a:cxnLst/>
            <a:rect r="r" b="b" t="t" l="l"/>
            <a:pathLst>
              <a:path h="1021399" w="3106227">
                <a:moveTo>
                  <a:pt x="0" y="0"/>
                </a:moveTo>
                <a:lnTo>
                  <a:pt x="3106227" y="0"/>
                </a:lnTo>
                <a:lnTo>
                  <a:pt x="3106227" y="1021399"/>
                </a:lnTo>
                <a:lnTo>
                  <a:pt x="0" y="1021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" r="0" b="-7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34663" y="4994555"/>
            <a:ext cx="297890" cy="297890"/>
          </a:xfrm>
          <a:custGeom>
            <a:avLst/>
            <a:gdLst/>
            <a:ahLst/>
            <a:cxnLst/>
            <a:rect r="r" b="b" t="t" l="l"/>
            <a:pathLst>
              <a:path h="297890" w="297890">
                <a:moveTo>
                  <a:pt x="0" y="0"/>
                </a:moveTo>
                <a:lnTo>
                  <a:pt x="297890" y="0"/>
                </a:lnTo>
                <a:lnTo>
                  <a:pt x="297890" y="297890"/>
                </a:lnTo>
                <a:lnTo>
                  <a:pt x="0" y="2978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44364" y="4678528"/>
            <a:ext cx="4235323" cy="5266794"/>
          </a:xfrm>
          <a:custGeom>
            <a:avLst/>
            <a:gdLst/>
            <a:ahLst/>
            <a:cxnLst/>
            <a:rect r="r" b="b" t="t" l="l"/>
            <a:pathLst>
              <a:path h="5266794" w="4235323">
                <a:moveTo>
                  <a:pt x="0" y="0"/>
                </a:moveTo>
                <a:lnTo>
                  <a:pt x="4235323" y="0"/>
                </a:lnTo>
                <a:lnTo>
                  <a:pt x="4235323" y="5266794"/>
                </a:lnTo>
                <a:lnTo>
                  <a:pt x="0" y="52667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0698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9858408"/>
            <a:ext cx="18288000" cy="428592"/>
            <a:chOff x="0" y="0"/>
            <a:chExt cx="4816593" cy="112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12880"/>
            </a:xfrm>
            <a:custGeom>
              <a:avLst/>
              <a:gdLst/>
              <a:ahLst/>
              <a:cxnLst/>
              <a:rect r="r" b="b" t="t" l="l"/>
              <a:pathLst>
                <a:path h="1128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2880"/>
                  </a:lnTo>
                  <a:lnTo>
                    <a:pt x="0" y="112880"/>
                  </a:lnTo>
                  <a:close/>
                </a:path>
              </a:pathLst>
            </a:custGeom>
            <a:solidFill>
              <a:srgbClr val="1C417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16593" cy="160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Copyright © 2025 by GPD CONSULTORES. </a:t>
              </a:r>
              <a:r>
                <a:rPr lang="en-US" b="true" sz="20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All Rights Reserved.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28740" y="3751685"/>
            <a:ext cx="12830520" cy="2783629"/>
            <a:chOff x="0" y="0"/>
            <a:chExt cx="17107360" cy="371150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654245" y="9525"/>
              <a:ext cx="15798871" cy="1770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72"/>
                </a:lnSpc>
              </a:pPr>
              <a:r>
                <a:rPr lang="en-US" sz="8800" b="true">
                  <a:solidFill>
                    <a:srgbClr val="ED7D31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MUCHAS GRACIAS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448258"/>
              <a:ext cx="17107360" cy="1263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1"/>
                </a:lnSpc>
              </a:pPr>
              <a:r>
                <a:rPr lang="en-US" sz="6000" b="true">
                  <a:solidFill>
                    <a:srgbClr val="1C4179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¿PREGUNTAS?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DAGwtfeUlJ8</dc:identifier>
  <dcterms:modified xsi:type="dcterms:W3CDTF">2011-08-01T06:04:30Z</dcterms:modified>
  <cp:revision>1</cp:revision>
  <dc:title>MATPEL I - MODULO III</dc:title>
</cp:coreProperties>
</file>